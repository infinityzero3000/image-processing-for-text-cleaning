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60" r:id="rId4"/>
    <p:sldId id="259" r:id="rId5"/>
    <p:sldId id="271" r:id="rId6"/>
    <p:sldId id="272" r:id="rId7"/>
    <p:sldId id="273" r:id="rId8"/>
    <p:sldId id="274" r:id="rId9"/>
    <p:sldId id="275" r:id="rId10"/>
    <p:sldId id="276" r:id="rId11"/>
    <p:sldId id="270" r:id="rId12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10"/>
    <p:restoredTop sz="94652"/>
  </p:normalViewPr>
  <p:slideViewPr>
    <p:cSldViewPr snapToGrid="0">
      <p:cViewPr varScale="1">
        <p:scale>
          <a:sx n="72" d="100"/>
          <a:sy n="72" d="100"/>
        </p:scale>
        <p:origin x="216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D35AB-1EE5-4326-95FD-FA98C3E733A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A455D-60EF-4272-BBBE-EFC392A0E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36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A455D-60EF-4272-BBBE-EFC392A0E4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70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FA5C7D-F076-ABAB-28ED-936E6476926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BF138-DDAA-03AE-2BFD-F0E6E77D089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B26E30-45B4-E434-42E3-BFE66D53EB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8EE5A3-86BB-B40C-62D9-2E005424811B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20" name="Picture 19" descr="A building with trees in the background&#10;&#10;Description automatically generated">
            <a:extLst>
              <a:ext uri="{FF2B5EF4-FFF2-40B4-BE49-F238E27FC236}">
                <a16:creationId xmlns:a16="http://schemas.microsoft.com/office/drawing/2014/main" id="{633C415B-DE87-6E90-4B13-A134B02EF4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160" y="5045074"/>
            <a:ext cx="12202160" cy="1676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088D834-70EE-F737-6AE1-030852F6AA55}"/>
              </a:ext>
            </a:extLst>
          </p:cNvPr>
          <p:cNvSpPr txBox="1"/>
          <p:nvPr userDrawn="1"/>
        </p:nvSpPr>
        <p:spPr>
          <a:xfrm>
            <a:off x="2545718" y="32083"/>
            <a:ext cx="7090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 CÔNG THƯƠNG</a:t>
            </a:r>
          </a:p>
          <a:p>
            <a:pPr algn="ctr"/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THƯƠNG THÀNH PHỐ HỒ CHÍ MINH</a:t>
            </a:r>
            <a:endParaRPr lang="en-VN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white circle with blue and red text and a book with a graduation cap&#10;&#10;Description automatically generated">
            <a:extLst>
              <a:ext uri="{FF2B5EF4-FFF2-40B4-BE49-F238E27FC236}">
                <a16:creationId xmlns:a16="http://schemas.microsoft.com/office/drawing/2014/main" id="{CC7CB636-E017-BD51-B7F7-2797B5CEAFFA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133" y="18061"/>
            <a:ext cx="666000" cy="6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2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D56CA0-7F99-A73F-EC74-87E2C37C45F8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5"/>
            <a:ext cx="10515600" cy="8063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36941E3-E3EC-8EF3-53CB-96FCF404C8E3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11" name="Rectangle 11">
            <a:extLst>
              <a:ext uri="{FF2B5EF4-FFF2-40B4-BE49-F238E27FC236}">
                <a16:creationId xmlns:a16="http://schemas.microsoft.com/office/drawing/2014/main" id="{D433E92D-1893-9769-8444-34EEDD3F24BC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50C907-0A3F-10BA-C15C-CA461460FE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B4E7459-A8A2-5081-F907-74BAE417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0F50DE-1588-0A68-B2AE-03A7C3A9B079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95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DCC048-85E1-D9DE-466A-D5EAB21DAFC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547C463-86A8-9ADB-B42F-6F8F911146A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2EE3A5-6242-A6B2-F6B4-2094B545F5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9473FA4-C6C6-7E97-AACE-A35CFDAB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851853-8430-FC7D-0C05-EA3095D410B2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632828F-0B4F-8119-5B19-088A1173C90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8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E82EC-C435-7D46-EFDD-D5C6A244EEA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7329"/>
            <a:ext cx="10515600" cy="7133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E50E531-FF89-E7A1-EC42-5664726867C2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4D41C0-EECC-510F-3124-F7EBC163F8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1F0268C-2917-2762-4664-C6ACF358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7AE9E0-DBEB-84FF-4DC2-C53AC3C7993F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93BE15D-74FA-AED7-3D2B-A613D05E679B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8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A13BF4-06A1-B98B-FD59-CA5020C120F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7"/>
            <a:ext cx="10515600" cy="823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8D1E83-C000-B443-17A1-67E172C1C81A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F5B01C-A4C1-2548-9E99-49DA8F4F3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622E35-ED11-3E1D-3267-FB7969EB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5FADBA-93BC-7FCB-D7C6-2138FE10BEC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F168AC0-F6F3-71BB-BDB7-D14C957BCB1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521EA7-200B-F8EF-FA1A-AF68F6EAFB52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4059"/>
            <a:ext cx="10515600" cy="8166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C62A9323-B343-0333-2A84-AB84726F155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72A695-B9BF-2B5E-F712-588F45EA7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0B28936-A209-8496-713D-69F06443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1FC07C-FFBA-6E41-FC9E-B8C545CCA2CA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43E1AB2-24F0-751B-86DE-9AC77889FA3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6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F7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A64684-422C-D171-0292-6610A91BE81D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82848-CD15-3DBB-0148-67FB51371B08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181386B9-1456-137E-66EE-45A4447494C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CB3CD2-68E1-7670-8AC8-DCAEFA0447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55B251-549F-CC81-82C4-1791D4DC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95FE02-F81D-DAA0-4384-0E62C5A8FC54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https://huit.edu.vn</a:t>
            </a:r>
            <a:endParaRPr lang="en-VN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1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54E7B-7E2F-A597-CEAB-D64DA25FBCEB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A9AB12A-F2B6-4320-39F1-67F3778EE5DF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73966A-35C2-70BC-CFF9-46C3441D8C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8C1A7AF-70A0-C0E9-B2F5-1490BE6C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16FF7-3AE9-85FA-D18A-9862C6DB59A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C0ADFA0-11B6-96C9-35AE-E6733196ACDA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0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2A7AA7-CA5F-D2FA-2E5E-C3E10A53D35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EDE2594-98FA-EBCE-C733-A51E9F54ED18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735AE5-30EC-7992-E657-2104C4F3BF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CB5785D-C6E0-0BB4-B792-5DF6906E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C76ABB-19BA-0D81-2004-CA8C1BFA3211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3DEC689-0562-F90A-00BD-D3E65D677F10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88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8236F-F572-6350-D20A-0FCE1F38009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4"/>
            <a:ext cx="10515600" cy="80638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9C659F1E-1F51-522D-AC8E-BE6E140A9E7D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1B0D34-343B-C838-5720-7351BA57CF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B8E042D-2BAA-2A3F-EC27-380C92DB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CD5B80-37F9-BE16-90B3-B1958D8A8755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62415AA-63D3-FB51-385B-BC2BCB0599A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6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2366D-8698-B649-944B-CF1A6B166FF8}" type="datetimeFigureOut">
              <a:t>12/14/2025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9440A-2DED-3643-ADED-9B5C83E7D828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2272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AAC1D3-EE6D-FC85-F800-5FCE3F264EAA}"/>
              </a:ext>
            </a:extLst>
          </p:cNvPr>
          <p:cNvSpPr txBox="1"/>
          <p:nvPr/>
        </p:nvSpPr>
        <p:spPr>
          <a:xfrm>
            <a:off x="1865551" y="1583754"/>
            <a:ext cx="83651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ỨNG DỤNG XỬ LÝ ẢNH HÌNH THÁI </a:t>
            </a:r>
            <a:endParaRPr lang="en-US" sz="32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ĐỂ LÀM SẠCH VĂN BẢN</a:t>
            </a:r>
            <a:endParaRPr lang="en-VN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E2475-13C4-9385-87CD-4BB65220D9F5}"/>
              </a:ext>
            </a:extLst>
          </p:cNvPr>
          <p:cNvSpPr txBox="1"/>
          <p:nvPr/>
        </p:nvSpPr>
        <p:spPr>
          <a:xfrm>
            <a:off x="3299012" y="3429000"/>
            <a:ext cx="5035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vi-VN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GVHD: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ThS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Huỳnh Thị Châu Lan</a:t>
            </a:r>
            <a:endParaRPr lang="vi-VN" sz="24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B26B0C-4890-C750-3B6F-65CB574F33D8}"/>
              </a:ext>
            </a:extLst>
          </p:cNvPr>
          <p:cNvSpPr txBox="1"/>
          <p:nvPr/>
        </p:nvSpPr>
        <p:spPr>
          <a:xfrm>
            <a:off x="4598504" y="4197028"/>
            <a:ext cx="2436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vi-V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NHÓM 9</a:t>
            </a:r>
            <a:endParaRPr lang="en-V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4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9;p18">
            <a:extLst>
              <a:ext uri="{FF2B5EF4-FFF2-40B4-BE49-F238E27FC236}">
                <a16:creationId xmlns:a16="http://schemas.microsoft.com/office/drawing/2014/main" id="{AC4DB409-CD17-B302-275F-07C1D7BD1088}"/>
              </a:ext>
            </a:extLst>
          </p:cNvPr>
          <p:cNvSpPr txBox="1">
            <a:spLocks/>
          </p:cNvSpPr>
          <p:nvPr/>
        </p:nvSpPr>
        <p:spPr>
          <a:xfrm>
            <a:off x="1699945" y="1453815"/>
            <a:ext cx="4986531" cy="86985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4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THÀNH VIÊN</a:t>
            </a:r>
            <a:endParaRPr lang="en-US" sz="4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Google Shape;210;p18">
            <a:extLst>
              <a:ext uri="{FF2B5EF4-FFF2-40B4-BE49-F238E27FC236}">
                <a16:creationId xmlns:a16="http://schemas.microsoft.com/office/drawing/2014/main" id="{AE663D5C-DEA9-67AB-CDCB-5981E1D924BA}"/>
              </a:ext>
            </a:extLst>
          </p:cNvPr>
          <p:cNvSpPr txBox="1">
            <a:spLocks/>
          </p:cNvSpPr>
          <p:nvPr/>
        </p:nvSpPr>
        <p:spPr>
          <a:xfrm>
            <a:off x="1684385" y="2468014"/>
            <a:ext cx="5463609" cy="58860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Phạm Ánh Ngọc - 2001230566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211;p18">
            <a:extLst>
              <a:ext uri="{FF2B5EF4-FFF2-40B4-BE49-F238E27FC236}">
                <a16:creationId xmlns:a16="http://schemas.microsoft.com/office/drawing/2014/main" id="{2B285A4F-8BEA-A49A-7712-BC14D6FAA40A}"/>
              </a:ext>
            </a:extLst>
          </p:cNvPr>
          <p:cNvSpPr/>
          <p:nvPr/>
        </p:nvSpPr>
        <p:spPr>
          <a:xfrm>
            <a:off x="11211069" y="2435269"/>
            <a:ext cx="211600" cy="202043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oogle Shape;212;p18">
            <a:extLst>
              <a:ext uri="{FF2B5EF4-FFF2-40B4-BE49-F238E27FC236}">
                <a16:creationId xmlns:a16="http://schemas.microsoft.com/office/drawing/2014/main" id="{51662A26-2C5D-8771-A023-F0C141E678A1}"/>
              </a:ext>
            </a:extLst>
          </p:cNvPr>
          <p:cNvGrpSpPr/>
          <p:nvPr/>
        </p:nvGrpSpPr>
        <p:grpSpPr>
          <a:xfrm>
            <a:off x="10948492" y="1300802"/>
            <a:ext cx="906515" cy="906754"/>
            <a:chOff x="6654650" y="3665275"/>
            <a:chExt cx="409100" cy="409125"/>
          </a:xfrm>
        </p:grpSpPr>
        <p:sp>
          <p:nvSpPr>
            <p:cNvPr id="8" name="Google Shape;213;p18">
              <a:extLst>
                <a:ext uri="{FF2B5EF4-FFF2-40B4-BE49-F238E27FC236}">
                  <a16:creationId xmlns:a16="http://schemas.microsoft.com/office/drawing/2014/main" id="{702DEDB4-462C-5CED-AD1B-C546BCB1102F}"/>
                </a:ext>
              </a:extLst>
            </p:cNvPr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Google Shape;214;p18">
              <a:extLst>
                <a:ext uri="{FF2B5EF4-FFF2-40B4-BE49-F238E27FC236}">
                  <a16:creationId xmlns:a16="http://schemas.microsoft.com/office/drawing/2014/main" id="{3D0CB54B-F64A-B052-11E3-764EC49A9B69}"/>
                </a:ext>
              </a:extLst>
            </p:cNvPr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Google Shape;215;p18">
            <a:extLst>
              <a:ext uri="{FF2B5EF4-FFF2-40B4-BE49-F238E27FC236}">
                <a16:creationId xmlns:a16="http://schemas.microsoft.com/office/drawing/2014/main" id="{1264D6B2-E6BC-5EF7-482F-C35D6ED5B355}"/>
              </a:ext>
            </a:extLst>
          </p:cNvPr>
          <p:cNvGrpSpPr/>
          <p:nvPr/>
        </p:nvGrpSpPr>
        <p:grpSpPr>
          <a:xfrm rot="1057032">
            <a:off x="10074804" y="2013474"/>
            <a:ext cx="598916" cy="598961"/>
            <a:chOff x="570875" y="4322250"/>
            <a:chExt cx="443300" cy="443325"/>
          </a:xfrm>
        </p:grpSpPr>
        <p:sp>
          <p:nvSpPr>
            <p:cNvPr id="11" name="Google Shape;216;p18">
              <a:extLst>
                <a:ext uri="{FF2B5EF4-FFF2-40B4-BE49-F238E27FC236}">
                  <a16:creationId xmlns:a16="http://schemas.microsoft.com/office/drawing/2014/main" id="{D45E4D5D-B229-3319-D40E-2F659CEE3039}"/>
                </a:ext>
              </a:extLst>
            </p:cNvPr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Google Shape;217;p18">
              <a:extLst>
                <a:ext uri="{FF2B5EF4-FFF2-40B4-BE49-F238E27FC236}">
                  <a16:creationId xmlns:a16="http://schemas.microsoft.com/office/drawing/2014/main" id="{50E12CB8-0FDB-F0D3-7D0D-0BFA6BD360B7}"/>
                </a:ext>
              </a:extLst>
            </p:cNvPr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218;p18">
              <a:extLst>
                <a:ext uri="{FF2B5EF4-FFF2-40B4-BE49-F238E27FC236}">
                  <a16:creationId xmlns:a16="http://schemas.microsoft.com/office/drawing/2014/main" id="{BE1E5BCE-C861-FE81-EF66-D2CF62494130}"/>
                </a:ext>
              </a:extLst>
            </p:cNvPr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Google Shape;219;p18">
              <a:extLst>
                <a:ext uri="{FF2B5EF4-FFF2-40B4-BE49-F238E27FC236}">
                  <a16:creationId xmlns:a16="http://schemas.microsoft.com/office/drawing/2014/main" id="{1E05D06D-56D4-8A1B-D972-5E366E2339AC}"/>
                </a:ext>
              </a:extLst>
            </p:cNvPr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" name="Google Shape;220;p18">
            <a:extLst>
              <a:ext uri="{FF2B5EF4-FFF2-40B4-BE49-F238E27FC236}">
                <a16:creationId xmlns:a16="http://schemas.microsoft.com/office/drawing/2014/main" id="{9F1043A8-CC08-1892-C89B-697F90412A72}"/>
              </a:ext>
            </a:extLst>
          </p:cNvPr>
          <p:cNvSpPr/>
          <p:nvPr/>
        </p:nvSpPr>
        <p:spPr>
          <a:xfrm rot="2466689">
            <a:off x="10142008" y="1476442"/>
            <a:ext cx="294001" cy="28072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Google Shape;221;p18">
            <a:extLst>
              <a:ext uri="{FF2B5EF4-FFF2-40B4-BE49-F238E27FC236}">
                <a16:creationId xmlns:a16="http://schemas.microsoft.com/office/drawing/2014/main" id="{BEB2873D-441F-F417-818D-46EF448B1547}"/>
              </a:ext>
            </a:extLst>
          </p:cNvPr>
          <p:cNvSpPr/>
          <p:nvPr/>
        </p:nvSpPr>
        <p:spPr>
          <a:xfrm rot="-1609379">
            <a:off x="10571953" y="1653062"/>
            <a:ext cx="211562" cy="202006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Google Shape;222;p18">
            <a:extLst>
              <a:ext uri="{FF2B5EF4-FFF2-40B4-BE49-F238E27FC236}">
                <a16:creationId xmlns:a16="http://schemas.microsoft.com/office/drawing/2014/main" id="{C63E4418-78B1-8995-A2DE-400193676FB9}"/>
              </a:ext>
            </a:extLst>
          </p:cNvPr>
          <p:cNvSpPr/>
          <p:nvPr/>
        </p:nvSpPr>
        <p:spPr>
          <a:xfrm rot="2925831">
            <a:off x="11854756" y="1813099"/>
            <a:ext cx="158438" cy="151283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Google Shape;223;p18">
            <a:extLst>
              <a:ext uri="{FF2B5EF4-FFF2-40B4-BE49-F238E27FC236}">
                <a16:creationId xmlns:a16="http://schemas.microsoft.com/office/drawing/2014/main" id="{26777BBC-FAAC-AB7A-9958-C58A05DE4699}"/>
              </a:ext>
            </a:extLst>
          </p:cNvPr>
          <p:cNvSpPr/>
          <p:nvPr/>
        </p:nvSpPr>
        <p:spPr>
          <a:xfrm rot="-1609195">
            <a:off x="11195418" y="799645"/>
            <a:ext cx="142734" cy="136287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210;p18">
            <a:extLst>
              <a:ext uri="{FF2B5EF4-FFF2-40B4-BE49-F238E27FC236}">
                <a16:creationId xmlns:a16="http://schemas.microsoft.com/office/drawing/2014/main" id="{24541E25-D751-5CC2-0B22-95FAD6622F18}"/>
              </a:ext>
            </a:extLst>
          </p:cNvPr>
          <p:cNvSpPr txBox="1">
            <a:spLocks/>
          </p:cNvSpPr>
          <p:nvPr/>
        </p:nvSpPr>
        <p:spPr>
          <a:xfrm>
            <a:off x="1684384" y="3056614"/>
            <a:ext cx="5463609" cy="58860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Trịnh Hoàng Thái - 2001230873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Google Shape;210;p18">
            <a:extLst>
              <a:ext uri="{FF2B5EF4-FFF2-40B4-BE49-F238E27FC236}">
                <a16:creationId xmlns:a16="http://schemas.microsoft.com/office/drawing/2014/main" id="{633D804E-0A64-CCA0-D19B-C12F14B6C5EB}"/>
              </a:ext>
            </a:extLst>
          </p:cNvPr>
          <p:cNvSpPr txBox="1">
            <a:spLocks/>
          </p:cNvSpPr>
          <p:nvPr/>
        </p:nvSpPr>
        <p:spPr>
          <a:xfrm>
            <a:off x="1699945" y="3645214"/>
            <a:ext cx="6284956" cy="58860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Nguyễn Hữu Thắng - 2001230909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Google Shape;210;p18">
            <a:extLst>
              <a:ext uri="{FF2B5EF4-FFF2-40B4-BE49-F238E27FC236}">
                <a16:creationId xmlns:a16="http://schemas.microsoft.com/office/drawing/2014/main" id="{37E5B93F-0635-21DF-B028-77A036B79E9E}"/>
              </a:ext>
            </a:extLst>
          </p:cNvPr>
          <p:cNvSpPr txBox="1">
            <a:spLocks/>
          </p:cNvSpPr>
          <p:nvPr/>
        </p:nvSpPr>
        <p:spPr>
          <a:xfrm>
            <a:off x="1699945" y="4233814"/>
            <a:ext cx="5463609" cy="58860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Huỳnh Minh Phát - 2001230648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Google Shape;210;p18">
            <a:extLst>
              <a:ext uri="{FF2B5EF4-FFF2-40B4-BE49-F238E27FC236}">
                <a16:creationId xmlns:a16="http://schemas.microsoft.com/office/drawing/2014/main" id="{E6665508-363E-F0C4-FBF0-48FB3183B72D}"/>
              </a:ext>
            </a:extLst>
          </p:cNvPr>
          <p:cNvSpPr txBox="1">
            <a:spLocks/>
          </p:cNvSpPr>
          <p:nvPr/>
        </p:nvSpPr>
        <p:spPr>
          <a:xfrm>
            <a:off x="1684383" y="4822414"/>
            <a:ext cx="5463609" cy="58860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Nguyễn Hoài Phúc - 2001230687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4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60;p23">
            <a:extLst>
              <a:ext uri="{FF2B5EF4-FFF2-40B4-BE49-F238E27FC236}">
                <a16:creationId xmlns:a16="http://schemas.microsoft.com/office/drawing/2014/main" id="{ED47425D-6654-4D31-4829-6A25C142E5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1430" y="968897"/>
            <a:ext cx="8333232" cy="811408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/>
          <a:p>
            <a:r>
              <a:rPr lang="vi-VN" sz="4000" b="1" dirty="0">
                <a:solidFill>
                  <a:srgbClr val="1F72B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MỤC TIÊU CẦN ĐẠT ĐƯỢC CỦA ĐỀ TÀI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CAED2-C5EE-4A18-7B89-4046C966384B}"/>
              </a:ext>
            </a:extLst>
          </p:cNvPr>
          <p:cNvSpPr txBox="1"/>
          <p:nvPr/>
        </p:nvSpPr>
        <p:spPr>
          <a:xfrm>
            <a:off x="1204093" y="1951149"/>
            <a:ext cx="10987907" cy="362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 algn="l">
              <a:lnSpc>
                <a:spcPct val="250000"/>
              </a:lnSpc>
              <a:tabLst>
                <a:tab pos="914400" algn="l"/>
              </a:tabLst>
            </a:pP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Loại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bỏ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nhiễu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nhỏ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như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đốm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vệt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đen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bụi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quét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R="0" lvl="1" algn="l">
              <a:lnSpc>
                <a:spcPct val="250000"/>
              </a:lnSpc>
              <a:tabLst>
                <a:tab pos="914400" algn="l"/>
              </a:tabLst>
            </a:pP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Làm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rõ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nét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văn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bản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giúp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cải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thiện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khả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năng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đọc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R="0" lvl="1" algn="l">
              <a:lnSpc>
                <a:spcPct val="250000"/>
              </a:lnSpc>
              <a:tabLst>
                <a:tab pos="914400" algn="l"/>
              </a:tabLst>
            </a:pP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Kết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nối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lại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nét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chữ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bị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đứt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làm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văn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bản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liền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mạch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hơn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R="0" lvl="1" algn="l">
              <a:lnSpc>
                <a:spcPct val="250000"/>
              </a:lnSpc>
              <a:tabLst>
                <a:tab pos="914400" algn="l"/>
              </a:tabLst>
            </a:pP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Nâng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cao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độ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chính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xác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OCR</a:t>
            </a:r>
          </a:p>
        </p:txBody>
      </p:sp>
    </p:spTree>
    <p:extLst>
      <p:ext uri="{BB962C8B-B14F-4D97-AF65-F5344CB8AC3E}">
        <p14:creationId xmlns:p14="http://schemas.microsoft.com/office/powerpoint/2010/main" val="129775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7;p29">
            <a:extLst>
              <a:ext uri="{FF2B5EF4-FFF2-40B4-BE49-F238E27FC236}">
                <a16:creationId xmlns:a16="http://schemas.microsoft.com/office/drawing/2014/main" id="{08014618-201B-5B3E-3CB7-9644094B7545}"/>
              </a:ext>
            </a:extLst>
          </p:cNvPr>
          <p:cNvSpPr txBox="1">
            <a:spLocks/>
          </p:cNvSpPr>
          <p:nvPr/>
        </p:nvSpPr>
        <p:spPr>
          <a:xfrm>
            <a:off x="2673614" y="1198956"/>
            <a:ext cx="7656971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TỔNG QUAN PHƯƠNG PHÁP</a:t>
            </a:r>
            <a:endParaRPr lang="en-US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319;p29">
            <a:extLst>
              <a:ext uri="{FF2B5EF4-FFF2-40B4-BE49-F238E27FC236}">
                <a16:creationId xmlns:a16="http://schemas.microsoft.com/office/drawing/2014/main" id="{B7C8EABF-F432-9233-6BB6-81D1A8A995F8}"/>
              </a:ext>
            </a:extLst>
          </p:cNvPr>
          <p:cNvSpPr txBox="1">
            <a:spLocks/>
          </p:cNvSpPr>
          <p:nvPr/>
        </p:nvSpPr>
        <p:spPr>
          <a:xfrm>
            <a:off x="2766379" y="1517879"/>
            <a:ext cx="6686714" cy="3146887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200000"/>
              </a:lnSpc>
              <a:buAutoNum type="arabicPeriod"/>
            </a:pPr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Tiền xử lý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Làm sạch nhiễu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Làm liền nét chữ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Loại bỏ nền và vết bẩn</a:t>
            </a:r>
          </a:p>
        </p:txBody>
      </p:sp>
    </p:spTree>
    <p:extLst>
      <p:ext uri="{BB962C8B-B14F-4D97-AF65-F5344CB8AC3E}">
        <p14:creationId xmlns:p14="http://schemas.microsoft.com/office/powerpoint/2010/main" val="98723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D2348-5A4D-1834-7AB4-60C24FE17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7;p29">
            <a:extLst>
              <a:ext uri="{FF2B5EF4-FFF2-40B4-BE49-F238E27FC236}">
                <a16:creationId xmlns:a16="http://schemas.microsoft.com/office/drawing/2014/main" id="{57E16C81-7BF7-0D79-F789-66DC67E04F55}"/>
              </a:ext>
            </a:extLst>
          </p:cNvPr>
          <p:cNvSpPr txBox="1">
            <a:spLocks/>
          </p:cNvSpPr>
          <p:nvPr/>
        </p:nvSpPr>
        <p:spPr>
          <a:xfrm>
            <a:off x="4421250" y="1179078"/>
            <a:ext cx="3349500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vi-VN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TIỀN XỬ LÝ</a:t>
            </a:r>
            <a:endParaRPr lang="en-US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319;p29">
            <a:extLst>
              <a:ext uri="{FF2B5EF4-FFF2-40B4-BE49-F238E27FC236}">
                <a16:creationId xmlns:a16="http://schemas.microsoft.com/office/drawing/2014/main" id="{3A51AD52-CFAB-DCD1-0799-1B266E86D0CF}"/>
              </a:ext>
            </a:extLst>
          </p:cNvPr>
          <p:cNvSpPr txBox="1">
            <a:spLocks/>
          </p:cNvSpPr>
          <p:nvPr/>
        </p:nvSpPr>
        <p:spPr>
          <a:xfrm>
            <a:off x="547490" y="1689603"/>
            <a:ext cx="6716196" cy="5261113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400" dirty="0" err="1"/>
              <a:t>Chuyển</a:t>
            </a:r>
            <a:r>
              <a:rPr lang="en-US" sz="2400" dirty="0"/>
              <a:t>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màu</a:t>
            </a:r>
            <a:r>
              <a:rPr lang="en-US" sz="2400" dirty="0"/>
              <a:t> sang </a:t>
            </a:r>
            <a:r>
              <a:rPr lang="en-US" sz="2400" dirty="0" err="1"/>
              <a:t>ảnh</a:t>
            </a:r>
            <a:r>
              <a:rPr lang="en-US" sz="2400" dirty="0"/>
              <a:t> thang </a:t>
            </a:r>
            <a:r>
              <a:rPr lang="en-US" sz="2400" dirty="0" err="1"/>
              <a:t>xám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giảm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kênh</a:t>
            </a:r>
            <a:r>
              <a:rPr lang="en-US" sz="2400" dirty="0"/>
              <a:t> </a:t>
            </a:r>
            <a:r>
              <a:rPr lang="vi-VN" sz="2400" dirty="0"/>
              <a:t>màu.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Nhị phân hóa ảnh bằng:</a:t>
            </a:r>
          </a:p>
          <a:p>
            <a:pPr lvl="1">
              <a:lnSpc>
                <a:spcPct val="150000"/>
              </a:lnSpc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Ngưỡng </a:t>
            </a:r>
            <a:r>
              <a:rPr lang="vi-V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Otsu</a:t>
            </a:r>
            <a:endParaRPr lang="vi-V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vi-V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Adaptive</a:t>
            </a: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</a:t>
            </a:r>
            <a:endParaRPr lang="vi-V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vi-V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Biến ảnh về dạng trắng–đen, trong đó chữ và nền được tách biệt rõ ràng.</a:t>
            </a:r>
          </a:p>
        </p:txBody>
      </p:sp>
      <p:pic>
        <p:nvPicPr>
          <p:cNvPr id="2050" name="Picture 2" descr="3.3.9.7. Otsu thresholding — Scipy lecture notes">
            <a:extLst>
              <a:ext uri="{FF2B5EF4-FFF2-40B4-BE49-F238E27FC236}">
                <a16:creationId xmlns:a16="http://schemas.microsoft.com/office/drawing/2014/main" id="{A4E8DE68-FCCD-EEBD-6E85-F8F835434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685" y="1689603"/>
            <a:ext cx="4185903" cy="2275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211B7C-9F3D-1286-677D-2CD634563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311" y="3923933"/>
            <a:ext cx="3422277" cy="248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6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98AFB-8C3A-5CF9-20DC-F998ACA0B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7;p29">
            <a:extLst>
              <a:ext uri="{FF2B5EF4-FFF2-40B4-BE49-F238E27FC236}">
                <a16:creationId xmlns:a16="http://schemas.microsoft.com/office/drawing/2014/main" id="{5DD3B628-3889-F430-EC3D-ACAA5D95CB83}"/>
              </a:ext>
            </a:extLst>
          </p:cNvPr>
          <p:cNvSpPr txBox="1">
            <a:spLocks/>
          </p:cNvSpPr>
          <p:nvPr/>
        </p:nvSpPr>
        <p:spPr>
          <a:xfrm>
            <a:off x="4148126" y="1179078"/>
            <a:ext cx="5067307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vi-VN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LÀM SẠCH NHIỄU</a:t>
            </a:r>
            <a:endParaRPr lang="en-US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319;p29">
            <a:extLst>
              <a:ext uri="{FF2B5EF4-FFF2-40B4-BE49-F238E27FC236}">
                <a16:creationId xmlns:a16="http://schemas.microsoft.com/office/drawing/2014/main" id="{81C6A366-2307-8581-928A-7ACCD72223F8}"/>
              </a:ext>
            </a:extLst>
          </p:cNvPr>
          <p:cNvSpPr txBox="1">
            <a:spLocks/>
          </p:cNvSpPr>
          <p:nvPr/>
        </p:nvSpPr>
        <p:spPr>
          <a:xfrm>
            <a:off x="670697" y="1963144"/>
            <a:ext cx="5987328" cy="4548814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Sử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phép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mở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(Opening)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Erosion → Dilation</a:t>
            </a:r>
            <a:endParaRPr lang="vi-V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Kernel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nhỏ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2×2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hoặc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3×3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Tác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vi-V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Loại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bỏ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điểm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nhiễu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nhỏ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đốm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trắng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hoặc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vệt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rời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rạc.</a:t>
            </a:r>
          </a:p>
          <a:p>
            <a:pPr lvl="1">
              <a:lnSpc>
                <a:spcPct val="10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Giữ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lại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vùng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chữ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chính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hạn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chế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làm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mất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nét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chữ.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CE9687-2F73-89F5-1E55-BC6334594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025" y="4208732"/>
            <a:ext cx="4291044" cy="2186003"/>
          </a:xfrm>
          <a:prstGeom prst="rect">
            <a:avLst/>
          </a:prstGeom>
        </p:spPr>
      </p:pic>
      <p:pic>
        <p:nvPicPr>
          <p:cNvPr id="4107" name="Picture 11" descr="Example of border noise removal. a) original document image ...">
            <a:extLst>
              <a:ext uri="{FF2B5EF4-FFF2-40B4-BE49-F238E27FC236}">
                <a16:creationId xmlns:a16="http://schemas.microsoft.com/office/drawing/2014/main" id="{CA0DF707-DD11-7029-C9C6-0C199E086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390" y="1963144"/>
            <a:ext cx="4790807" cy="200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637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B169F-E16E-DD13-04A5-74366FC17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7;p29">
            <a:extLst>
              <a:ext uri="{FF2B5EF4-FFF2-40B4-BE49-F238E27FC236}">
                <a16:creationId xmlns:a16="http://schemas.microsoft.com/office/drawing/2014/main" id="{1D8BF12D-7775-CF84-1BE7-74493BAF0F44}"/>
              </a:ext>
            </a:extLst>
          </p:cNvPr>
          <p:cNvSpPr txBox="1">
            <a:spLocks/>
          </p:cNvSpPr>
          <p:nvPr/>
        </p:nvSpPr>
        <p:spPr>
          <a:xfrm>
            <a:off x="3845349" y="1214474"/>
            <a:ext cx="5625352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vi-VN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LÀM LIỀN NÉT CHỮ</a:t>
            </a:r>
            <a:endParaRPr lang="en-US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319;p29">
            <a:extLst>
              <a:ext uri="{FF2B5EF4-FFF2-40B4-BE49-F238E27FC236}">
                <a16:creationId xmlns:a16="http://schemas.microsoft.com/office/drawing/2014/main" id="{69C3E71E-E713-24B6-667D-8803F086CDEC}"/>
              </a:ext>
            </a:extLst>
          </p:cNvPr>
          <p:cNvSpPr txBox="1">
            <a:spLocks/>
          </p:cNvSpPr>
          <p:nvPr/>
        </p:nvSpPr>
        <p:spPr>
          <a:xfrm>
            <a:off x="785238" y="1724999"/>
            <a:ext cx="5999875" cy="4548814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Sử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phép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đóng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(Closing)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Thực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hiện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giãn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(Dilation)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đó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 (Erosion)</a:t>
            </a:r>
            <a:endParaRPr lang="vi-V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Lấp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khoảng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trống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nhỏ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giữa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nét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chữ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Nối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đoạn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ký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tự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bị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đứt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gãy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thành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nét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liền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mạch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123" name="Picture 3" descr="Types of Morphological Operations">
            <a:extLst>
              <a:ext uri="{FF2B5EF4-FFF2-40B4-BE49-F238E27FC236}">
                <a16:creationId xmlns:a16="http://schemas.microsoft.com/office/drawing/2014/main" id="{96A37BF0-5DFF-E6A0-A370-19E2BFFC5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456" y="1724999"/>
            <a:ext cx="488632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OpenCV: Morphological Transformations">
            <a:extLst>
              <a:ext uri="{FF2B5EF4-FFF2-40B4-BE49-F238E27FC236}">
                <a16:creationId xmlns:a16="http://schemas.microsoft.com/office/drawing/2014/main" id="{750A3E61-8BED-DE57-6D2D-6417BCCE1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456" y="4272887"/>
            <a:ext cx="4886325" cy="213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071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E9D8D-1260-93FA-0313-402DE68E2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7;p29">
            <a:extLst>
              <a:ext uri="{FF2B5EF4-FFF2-40B4-BE49-F238E27FC236}">
                <a16:creationId xmlns:a16="http://schemas.microsoft.com/office/drawing/2014/main" id="{0D6BEF38-1ACD-46AB-8700-CA06AFD40BEC}"/>
              </a:ext>
            </a:extLst>
          </p:cNvPr>
          <p:cNvSpPr txBox="1">
            <a:spLocks/>
          </p:cNvSpPr>
          <p:nvPr/>
        </p:nvSpPr>
        <p:spPr>
          <a:xfrm>
            <a:off x="2705662" y="1191656"/>
            <a:ext cx="7259974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vi-VN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LOẠI BỎ NỀN VÀ VẾT BẨN</a:t>
            </a:r>
            <a:endParaRPr lang="en-US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319;p29">
            <a:extLst>
              <a:ext uri="{FF2B5EF4-FFF2-40B4-BE49-F238E27FC236}">
                <a16:creationId xmlns:a16="http://schemas.microsoft.com/office/drawing/2014/main" id="{12D0FF2B-BCE7-E2C6-CB5B-7185DD6F9F99}"/>
              </a:ext>
            </a:extLst>
          </p:cNvPr>
          <p:cNvSpPr txBox="1">
            <a:spLocks/>
          </p:cNvSpPr>
          <p:nvPr/>
        </p:nvSpPr>
        <p:spPr>
          <a:xfrm>
            <a:off x="589720" y="1813506"/>
            <a:ext cx="6053214" cy="4548814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Áp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phép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Top-hat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nền tối.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Làm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nổi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bật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vùng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ký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tự</a:t>
            </a:r>
            <a:endParaRPr lang="vi-V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Áp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phép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Black-hat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nền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sáng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vết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đen</a:t>
            </a:r>
            <a:endParaRPr lang="vi-V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Loại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bỏ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vết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bẩn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muốn</a:t>
            </a:r>
            <a:endParaRPr lang="vi-V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vi-V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Giảm ảnh hưởng của nền và các vùng không liên quan đến chữ</a:t>
            </a:r>
          </a:p>
        </p:txBody>
      </p:sp>
      <p:pic>
        <p:nvPicPr>
          <p:cNvPr id="6146" name="Picture 2" descr="A Review of Document Binarization: Main Techniques, New Challenges, and ...">
            <a:extLst>
              <a:ext uri="{FF2B5EF4-FFF2-40B4-BE49-F238E27FC236}">
                <a16:creationId xmlns:a16="http://schemas.microsoft.com/office/drawing/2014/main" id="{E9F6C0A1-075A-BC54-89C0-3190861FF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696" y="1813506"/>
            <a:ext cx="523875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811AB8-0497-FBCA-603F-2BBAAF6D0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934" y="3731533"/>
            <a:ext cx="5204512" cy="274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71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6D593-462E-1736-5F97-65A4CAC83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7;p29">
            <a:extLst>
              <a:ext uri="{FF2B5EF4-FFF2-40B4-BE49-F238E27FC236}">
                <a16:creationId xmlns:a16="http://schemas.microsoft.com/office/drawing/2014/main" id="{7E277619-E711-0F13-BEC6-A76EEA47127F}"/>
              </a:ext>
            </a:extLst>
          </p:cNvPr>
          <p:cNvSpPr txBox="1">
            <a:spLocks/>
          </p:cNvSpPr>
          <p:nvPr/>
        </p:nvSpPr>
        <p:spPr>
          <a:xfrm>
            <a:off x="2705662" y="1191656"/>
            <a:ext cx="7259974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2" descr="Steps involved in text extraction from complex background image: a ...">
            <a:extLst>
              <a:ext uri="{FF2B5EF4-FFF2-40B4-BE49-F238E27FC236}">
                <a16:creationId xmlns:a16="http://schemas.microsoft.com/office/drawing/2014/main" id="{CA50959B-D3B7-6597-6EDA-69AEC7F50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018" y="1737705"/>
            <a:ext cx="3468176" cy="466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317;p29">
            <a:extLst>
              <a:ext uri="{FF2B5EF4-FFF2-40B4-BE49-F238E27FC236}">
                <a16:creationId xmlns:a16="http://schemas.microsoft.com/office/drawing/2014/main" id="{E580CF01-08C4-9265-9469-B1E06E2A75C1}"/>
              </a:ext>
            </a:extLst>
          </p:cNvPr>
          <p:cNvSpPr txBox="1">
            <a:spLocks/>
          </p:cNvSpPr>
          <p:nvPr/>
        </p:nvSpPr>
        <p:spPr>
          <a:xfrm>
            <a:off x="2466012" y="1244980"/>
            <a:ext cx="7499623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vi-VN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HIỂN THỊ VÀ LƯU KẾT QUẢ</a:t>
            </a:r>
            <a:endParaRPr lang="en-US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319;p29">
            <a:extLst>
              <a:ext uri="{FF2B5EF4-FFF2-40B4-BE49-F238E27FC236}">
                <a16:creationId xmlns:a16="http://schemas.microsoft.com/office/drawing/2014/main" id="{6E921FEF-E7D3-D8F1-8D9E-FCA06B37B30C}"/>
              </a:ext>
            </a:extLst>
          </p:cNvPr>
          <p:cNvSpPr txBox="1">
            <a:spLocks/>
          </p:cNvSpPr>
          <p:nvPr/>
        </p:nvSpPr>
        <p:spPr>
          <a:xfrm>
            <a:off x="2067337" y="1851985"/>
            <a:ext cx="4823793" cy="4548814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vi-V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Hiển thị:</a:t>
            </a:r>
          </a:p>
          <a:p>
            <a:pPr lvl="1">
              <a:lnSpc>
                <a:spcPct val="150000"/>
              </a:lnSpc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Ảnh gốc</a:t>
            </a:r>
          </a:p>
          <a:p>
            <a:pPr lvl="1">
              <a:lnSpc>
                <a:spcPct val="150000"/>
              </a:lnSpc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Ảnh sau từng bước xử lý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Lưu ảnh kết quả:</a:t>
            </a:r>
          </a:p>
          <a:p>
            <a:pPr lvl="1">
              <a:lnSpc>
                <a:spcPct val="150000"/>
              </a:lnSpc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Phục vụ OCR</a:t>
            </a:r>
          </a:p>
          <a:p>
            <a:pPr lvl="1">
              <a:lnSpc>
                <a:spcPct val="150000"/>
              </a:lnSpc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Phục vụ đánh giá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14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68BA5-AEA6-D1D3-8207-0EB8F21E5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7;p29">
            <a:extLst>
              <a:ext uri="{FF2B5EF4-FFF2-40B4-BE49-F238E27FC236}">
                <a16:creationId xmlns:a16="http://schemas.microsoft.com/office/drawing/2014/main" id="{C19BE7EE-72F3-4C04-3E3E-DD93B1B4251C}"/>
              </a:ext>
            </a:extLst>
          </p:cNvPr>
          <p:cNvSpPr txBox="1">
            <a:spLocks/>
          </p:cNvSpPr>
          <p:nvPr/>
        </p:nvSpPr>
        <p:spPr>
          <a:xfrm>
            <a:off x="2705662" y="1191656"/>
            <a:ext cx="7259974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317;p29">
            <a:extLst>
              <a:ext uri="{FF2B5EF4-FFF2-40B4-BE49-F238E27FC236}">
                <a16:creationId xmlns:a16="http://schemas.microsoft.com/office/drawing/2014/main" id="{BEBF960D-BD2B-12B4-4CEE-F958AE2B8C10}"/>
              </a:ext>
            </a:extLst>
          </p:cNvPr>
          <p:cNvSpPr txBox="1">
            <a:spLocks/>
          </p:cNvSpPr>
          <p:nvPr/>
        </p:nvSpPr>
        <p:spPr>
          <a:xfrm>
            <a:off x="5149116" y="1528114"/>
            <a:ext cx="3484027" cy="248969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vi-VN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KẾT LUẬN</a:t>
            </a:r>
            <a:endParaRPr lang="en-US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319;p29">
            <a:extLst>
              <a:ext uri="{FF2B5EF4-FFF2-40B4-BE49-F238E27FC236}">
                <a16:creationId xmlns:a16="http://schemas.microsoft.com/office/drawing/2014/main" id="{4164B8CA-2796-009C-BD2F-DDD81CDF539C}"/>
              </a:ext>
            </a:extLst>
          </p:cNvPr>
          <p:cNvSpPr txBox="1">
            <a:spLocks/>
          </p:cNvSpPr>
          <p:nvPr/>
        </p:nvSpPr>
        <p:spPr>
          <a:xfrm>
            <a:off x="1168215" y="1652598"/>
            <a:ext cx="5989986" cy="4548814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vi-V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hép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toán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hình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thái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rất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hiệu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Làm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sạch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văn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bản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Chuẩn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bị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dữ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OCR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Giúp cải thiện chất lượng ảnh văn bản rõ rệt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thể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mở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rộng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Nhận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dạng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chữ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viết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Xử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tài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số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2232D7-EB60-788F-ED56-43E0C94A7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201" y="2199833"/>
            <a:ext cx="4462495" cy="34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5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The Thank You Post: Week One | Maximum Fun">
            <a:extLst>
              <a:ext uri="{FF2B5EF4-FFF2-40B4-BE49-F238E27FC236}">
                <a16:creationId xmlns:a16="http://schemas.microsoft.com/office/drawing/2014/main" id="{D7216201-2A29-D844-6F98-DBAF4FECF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5861"/>
            <a:ext cx="12192000" cy="602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394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HUIT">
      <a:dk1>
        <a:srgbClr val="000000"/>
      </a:dk1>
      <a:lt1>
        <a:srgbClr val="FFFFFF"/>
      </a:lt1>
      <a:dk2>
        <a:srgbClr val="354253"/>
      </a:dk2>
      <a:lt2>
        <a:srgbClr val="E7E6E6"/>
      </a:lt2>
      <a:accent1>
        <a:srgbClr val="044F9E"/>
      </a:accent1>
      <a:accent2>
        <a:srgbClr val="2072B7"/>
      </a:accent2>
      <a:accent3>
        <a:srgbClr val="4CC4EB"/>
      </a:accent3>
      <a:accent4>
        <a:srgbClr val="E81F26"/>
      </a:accent4>
      <a:accent5>
        <a:srgbClr val="FEC01D"/>
      </a:accent5>
      <a:accent6>
        <a:srgbClr val="DBD014"/>
      </a:accent6>
      <a:hlink>
        <a:srgbClr val="2072B7"/>
      </a:hlink>
      <a:folHlink>
        <a:srgbClr val="044F9E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Words>394</Words>
  <Application>Microsoft Office PowerPoint</Application>
  <PresentationFormat>Widescreen</PresentationFormat>
  <Paragraphs>61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1_Office Theme</vt:lpstr>
      <vt:lpstr>PowerPoint Presentation</vt:lpstr>
      <vt:lpstr>PowerPoint Presentation</vt:lpstr>
      <vt:lpstr>MỤC TIÊU CẦN ĐẠT ĐƯỢC CỦA ĐỀ TÀI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Võ Văn Vũ</dc:creator>
  <cp:lastModifiedBy>Phạm Ánh Ngọc</cp:lastModifiedBy>
  <cp:revision>7</cp:revision>
  <dcterms:created xsi:type="dcterms:W3CDTF">2023-11-06T07:10:59Z</dcterms:created>
  <dcterms:modified xsi:type="dcterms:W3CDTF">2025-12-14T03:51:57Z</dcterms:modified>
</cp:coreProperties>
</file>